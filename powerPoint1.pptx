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4"/>
  </p:sldMasterIdLst>
  <p:notesMasterIdLst>
    <p:notesMasterId r:id="rId14"/>
  </p:notesMasterIdLst>
  <p:sldIdLst>
    <p:sldId id="1864" r:id="rId5"/>
    <p:sldId id="1846" r:id="rId6"/>
    <p:sldId id="1868" r:id="rId7"/>
    <p:sldId id="1869" r:id="rId8"/>
    <p:sldId id="1870" r:id="rId9"/>
    <p:sldId id="1871" r:id="rId10"/>
    <p:sldId id="1872" r:id="rId11"/>
    <p:sldId id="1867" r:id="rId12"/>
    <p:sldId id="1858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80" userDrawn="1">
          <p15:clr>
            <a:srgbClr val="A4A3A4"/>
          </p15:clr>
        </p15:guide>
        <p15:guide id="3" pos="7200" userDrawn="1">
          <p15:clr>
            <a:srgbClr val="A4A3A4"/>
          </p15:clr>
        </p15:guide>
        <p15:guide id="4" pos="4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88"/>
    <a:srgbClr val="3577AD"/>
    <a:srgbClr val="3578AF"/>
    <a:srgbClr val="E23042"/>
    <a:srgbClr val="E2E2E2"/>
    <a:srgbClr val="FE4387"/>
    <a:srgbClr val="FF2625"/>
    <a:srgbClr val="297C2A"/>
    <a:srgbClr val="F69000"/>
    <a:srgbClr val="01C2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3" autoAdjust="0"/>
    <p:restoredTop sz="94724" autoAdjust="0"/>
  </p:normalViewPr>
  <p:slideViewPr>
    <p:cSldViewPr snapToGrid="0">
      <p:cViewPr>
        <p:scale>
          <a:sx n="60" d="100"/>
          <a:sy n="60" d="100"/>
        </p:scale>
        <p:origin x="1146" y="270"/>
      </p:cViewPr>
      <p:guideLst>
        <p:guide orient="horz" pos="2160"/>
        <p:guide pos="480"/>
        <p:guide pos="7200"/>
        <p:guide pos="43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4" d="100"/>
        <a:sy n="94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9F622F8-1824-4338-8C3C-5529D3BDEF4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618DDD53-BB38-4118-BC75-9CE27D49C55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C03B6F7-B1AE-4118-ABA2-FFEC9B8F0E9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646F5356-BDE8-43C1-9587-85323D02B19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89912C35-11A9-4DA7-8476-F1823F658CA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7180ED79-CEC3-4FB9-B511-8597B20A0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DEB7EE2-04A2-4FB2-9625-C9C73AC4D32F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FA4671F7-4D2C-4B1E-AED7-24676BE8B4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47842D7-C728-4EBD-982B-B8BE79E4DBBE}" type="slidenum">
              <a:rPr lang="en-US" altLang="en-US"/>
              <a:pPr eaLnBrk="1" hangingPunct="1"/>
              <a:t>1</a:t>
            </a:fld>
            <a:endParaRPr lang="en-US" altLang="en-US" dirty="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D8E83BD0-7AE4-4323-9047-FC368929C5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FDECF5EC-C5EC-4723-8F4F-A75A20018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814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57090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37920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DB60B1-BEF5-4848-BB02-98EBFE355C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"/>
            <a:ext cx="12191998" cy="685799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E7964CB-E75A-4A03-88D3-6A48EF650A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42012" y="2766219"/>
            <a:ext cx="6220101" cy="1325563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144067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atter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7E8F-5716-4A71-B64F-EC5A742B4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1"/>
            <a:ext cx="6477000" cy="118903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6340929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6" name="Picture Placeholder 5" descr="Red, blue grey white pattern background">
            <a:extLst>
              <a:ext uri="{FF2B5EF4-FFF2-40B4-BE49-F238E27FC236}">
                <a16:creationId xmlns:a16="http://schemas.microsoft.com/office/drawing/2014/main" id="{8FD53BA4-73D2-4CCA-8580-11F4221524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7166" y="0"/>
            <a:ext cx="4764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6" descr="White Striped background">
            <a:extLst>
              <a:ext uri="{FF2B5EF4-FFF2-40B4-BE49-F238E27FC236}">
                <a16:creationId xmlns:a16="http://schemas.microsoft.com/office/drawing/2014/main" id="{3917D528-010E-4303-97BF-F7F67BC661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324088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 userDrawn="1">
          <p15:clr>
            <a:srgbClr val="5ACBF0"/>
          </p15:clr>
        </p15:guide>
        <p15:guide id="4" orient="horz" pos="2488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3624-9AD4-4B61-B3D1-7B2121350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4"/>
            <a:ext cx="10591800" cy="646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80F473D-F2DF-4163-AB6E-F7327F60EC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432562"/>
            <a:ext cx="10667999" cy="11582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7DC18506-6205-438F-AA5C-D337F9975FC3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757381" y="2591662"/>
            <a:ext cx="10667999" cy="2833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US" dirty="0"/>
              <a:t>Insert content here</a:t>
            </a:r>
          </a:p>
        </p:txBody>
      </p:sp>
      <p:pic>
        <p:nvPicPr>
          <p:cNvPr id="7" name="Picture Placeholder 5" descr="Red, blue grey white pattern background">
            <a:extLst>
              <a:ext uri="{FF2B5EF4-FFF2-40B4-BE49-F238E27FC236}">
                <a16:creationId xmlns:a16="http://schemas.microsoft.com/office/drawing/2014/main" id="{CD2D4C14-919B-45F8-8FB9-55AAC8A8FC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0252"/>
            <a:ext cx="12192000" cy="86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17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atter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668F4E-0433-49FD-9D92-3B60E9B0AE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9742" y="715961"/>
            <a:ext cx="6477000" cy="118903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9743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 indent="-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6" name="Picture Placeholder 6" descr="Red, blue grey white pattern background">
            <a:extLst>
              <a:ext uri="{FF2B5EF4-FFF2-40B4-BE49-F238E27FC236}">
                <a16:creationId xmlns:a16="http://schemas.microsoft.com/office/drawing/2014/main" id="{3A82D859-AED3-485F-A04E-40320B1043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767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87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3624-9AD4-4B61-B3D1-7B2121350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4"/>
            <a:ext cx="10591800" cy="646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DF03C311-DDF4-44A3-9D51-D5FDC4A8E7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432562"/>
            <a:ext cx="10667999" cy="9274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id="{9FD563C5-3DFB-47DD-8A9E-30D8084590F6}"/>
              </a:ext>
            </a:extLst>
          </p:cNvPr>
          <p:cNvSpPr>
            <a:spLocks noGrp="1"/>
          </p:cNvSpPr>
          <p:nvPr>
            <p:ph type="dgm" sz="quarter" idx="14" hasCustomPrompt="1"/>
          </p:nvPr>
        </p:nvSpPr>
        <p:spPr>
          <a:xfrm>
            <a:off x="762001" y="2369129"/>
            <a:ext cx="10667998" cy="33436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US" dirty="0"/>
              <a:t>Insert Content here</a:t>
            </a:r>
          </a:p>
        </p:txBody>
      </p:sp>
      <p:pic>
        <p:nvPicPr>
          <p:cNvPr id="9" name="Picture Placeholder 8" descr="Red, blue grey white pattern background">
            <a:extLst>
              <a:ext uri="{FF2B5EF4-FFF2-40B4-BE49-F238E27FC236}">
                <a16:creationId xmlns:a16="http://schemas.microsoft.com/office/drawing/2014/main" id="{EFDBB6A3-9760-4B41-9E31-6D5DD396E1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9582"/>
            <a:ext cx="12192000" cy="85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26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3F45076F-4240-4B40-8CE4-637DD751A6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3"/>
            <a:ext cx="5334000" cy="118903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498B63D-F60C-4A9D-8D3E-0C7CD748FE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5334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228600">
              <a:lnSpc>
                <a:spcPct val="100000"/>
              </a:lnSpc>
              <a:spcBef>
                <a:spcPts val="1000"/>
              </a:spcBef>
              <a:defRPr sz="1800"/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827A95C0-AE8D-46E1-9EF9-64504CBEF9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8000" y="715963"/>
            <a:ext cx="4572000" cy="2362200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89E410BA-B0FE-4F0E-8BE5-D33CC01663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8000" y="3305541"/>
            <a:ext cx="4572000" cy="2362200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11" name="Picture Placeholder 5" descr="Red, blue grey white pattern background">
            <a:extLst>
              <a:ext uri="{FF2B5EF4-FFF2-40B4-BE49-F238E27FC236}">
                <a16:creationId xmlns:a16="http://schemas.microsoft.com/office/drawing/2014/main" id="{1014381E-E235-4624-9267-69EEEE9826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80922"/>
            <a:ext cx="12192000" cy="87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80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attern Content Gra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7E8F-5716-4A71-B64F-EC5A742B4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1"/>
            <a:ext cx="6477000" cy="118903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5" name="Picture Placeholder 6" descr="Red, blue grey white pattern background">
            <a:extLst>
              <a:ext uri="{FF2B5EF4-FFF2-40B4-BE49-F238E27FC236}">
                <a16:creationId xmlns:a16="http://schemas.microsoft.com/office/drawing/2014/main" id="{6696C96D-182E-490E-A117-B60FF18536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7166" y="0"/>
            <a:ext cx="4764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428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6" descr="Picture placeholder ">
            <a:extLst>
              <a:ext uri="{FF2B5EF4-FFF2-40B4-BE49-F238E27FC236}">
                <a16:creationId xmlns:a16="http://schemas.microsoft.com/office/drawing/2014/main" id="{21F9B252-B7D4-4DA8-92E8-8A98BFEF41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4100711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 userDrawn="1">
          <p15:clr>
            <a:srgbClr val="5ACBF0"/>
          </p15:clr>
        </p15:guide>
        <p15:guide id="4" orient="horz" pos="2488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7724906-4405-47F4-B533-7291B003B0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EEF53A4-35A6-4E43-B220-67DA381C59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  <p:pic>
        <p:nvPicPr>
          <p:cNvPr id="6" name="Picture Placeholder 5" descr="Red, blue grey white pattern background">
            <a:extLst>
              <a:ext uri="{FF2B5EF4-FFF2-40B4-BE49-F238E27FC236}">
                <a16:creationId xmlns:a16="http://schemas.microsoft.com/office/drawing/2014/main" id="{906BF34F-6945-4E11-BAEC-F66F7254C4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9582"/>
            <a:ext cx="12192000" cy="85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523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attern Content Blu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668F4E-0433-49FD-9D92-3B60E9B0AE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9742" y="715961"/>
            <a:ext cx="6477000" cy="118903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9743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 indent="-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5" name="Picture Placeholder 6" descr="Red, blue grey white pattern background">
            <a:extLst>
              <a:ext uri="{FF2B5EF4-FFF2-40B4-BE49-F238E27FC236}">
                <a16:creationId xmlns:a16="http://schemas.microsoft.com/office/drawing/2014/main" id="{BC85C715-EF0D-4E33-AC89-C35DD2596E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767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375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6904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9" r:id="rId2"/>
    <p:sldLayoutId id="2147483700" r:id="rId3"/>
    <p:sldLayoutId id="2147483691" r:id="rId4"/>
    <p:sldLayoutId id="2147483701" r:id="rId5"/>
    <p:sldLayoutId id="2147483706" r:id="rId6"/>
    <p:sldLayoutId id="2147483702" r:id="rId7"/>
    <p:sldLayoutId id="2147483704" r:id="rId8"/>
    <p:sldLayoutId id="2147483703" r:id="rId9"/>
    <p:sldLayoutId id="2147483690" r:id="rId10"/>
    <p:sldLayoutId id="21474837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2012" y="1062106"/>
            <a:ext cx="6220101" cy="2836126"/>
          </a:xfrm>
        </p:spPr>
        <p:txBody>
          <a:bodyPr/>
          <a:lstStyle/>
          <a:p>
            <a:pPr algn="ctr"/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Events and Workshops Electronic Portal</a:t>
            </a:r>
            <a:b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26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7BA0B6F-5258-479C-87B7-C806E6757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76" y="1310640"/>
            <a:ext cx="6477000" cy="1189038"/>
          </a:xfrm>
        </p:spPr>
        <p:txBody>
          <a:bodyPr/>
          <a:lstStyle/>
          <a:p>
            <a:r>
              <a:rPr lang="en-US" sz="3600" dirty="0">
                <a:solidFill>
                  <a:schemeClr val="tx2">
                    <a:lumMod val="10000"/>
                  </a:schemeClr>
                </a:solidFill>
              </a:rPr>
              <a:t>General </a:t>
            </a:r>
            <a:r>
              <a:rPr lang="en-US" sz="3600" dirty="0" smtClean="0">
                <a:solidFill>
                  <a:schemeClr val="tx2">
                    <a:lumMod val="10000"/>
                  </a:schemeClr>
                </a:solidFill>
              </a:rPr>
              <a:t>Concept:</a:t>
            </a:r>
            <a:endParaRPr lang="en-US" sz="36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36812B-2065-4A2B-B59B-8957022687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976" y="2270760"/>
            <a:ext cx="6340929" cy="3276600"/>
          </a:xfrm>
        </p:spPr>
        <p:txBody>
          <a:bodyPr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unified and intelligent platform connecting students, event organizers, university administration, and companies to streamline the management of academic activities.</a:t>
            </a:r>
            <a:endParaRPr lang="en-US" altLang="en-US" sz="2800" dirty="0">
              <a:solidFill>
                <a:srgbClr val="1F1F1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669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ABD4186-9A88-7065-7DE7-EF07BAB864A5}"/>
              </a:ext>
            </a:extLst>
          </p:cNvPr>
          <p:cNvCxnSpPr/>
          <p:nvPr/>
        </p:nvCxnSpPr>
        <p:spPr>
          <a:xfrm>
            <a:off x="0" y="919188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2000" y="211458"/>
            <a:ext cx="10591800" cy="646332"/>
          </a:xfrm>
        </p:spPr>
        <p:txBody>
          <a:bodyPr/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Problem, The Impact &amp; Our Solution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292768" y="1250835"/>
            <a:ext cx="1106103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Problem: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Traditional </a:t>
            </a:r>
            <a:r>
              <a:rPr lang="en-US" altLang="en-US" sz="1600" b="1" dirty="0" smtClean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Fragmentation</a:t>
            </a:r>
            <a:endParaRPr lang="ar-SA" altLang="en-US" sz="1600" dirty="0">
              <a:solidFill>
                <a:srgbClr val="1F1F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Booking </a:t>
            </a:r>
            <a:r>
              <a:rPr lang="en-US" altLang="en-US" sz="1600" b="1" dirty="0" smtClean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Conflicts</a:t>
            </a:r>
            <a:endParaRPr lang="ar-SA" altLang="en-US" sz="1600" dirty="0">
              <a:solidFill>
                <a:srgbClr val="1F1F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Student Engagement</a:t>
            </a:r>
            <a:endParaRPr lang="ar-SA" altLang="en-US" sz="1600" dirty="0">
              <a:solidFill>
                <a:srgbClr val="1F1F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Impact: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Wasted time, administrative inefficiency,</a:t>
            </a:r>
            <a:endParaRPr kumimoji="0" lang="ar-JO" altLang="en-US" sz="1800" b="0" i="0" u="none" strike="noStrike" cap="none" normalizeH="0" baseline="0" dirty="0" smtClean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low student engagement due to a lack of personalized recommendations matching events to academic majors.</a:t>
            </a:r>
            <a:endParaRPr kumimoji="0" lang="ar-JO" altLang="en-US" sz="1800" b="0" i="0" u="none" strike="noStrike" cap="none" normalizeH="0" baseline="0" dirty="0" smtClean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Our Solution: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unified, multi-role digital platform </a:t>
            </a:r>
            <a:endParaRPr kumimoji="0" lang="ar-JO" altLang="en-US" sz="1800" b="0" i="0" u="none" strike="noStrike" cap="none" normalizeH="0" baseline="0" dirty="0" smtClean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(Built with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Supabase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featuring smart tracking, seamless approvals, and dynamic major-based event recommendations. </a:t>
            </a:r>
          </a:p>
        </p:txBody>
      </p:sp>
    </p:spTree>
    <p:extLst>
      <p:ext uri="{BB962C8B-B14F-4D97-AF65-F5344CB8AC3E}">
        <p14:creationId xmlns:p14="http://schemas.microsoft.com/office/powerpoint/2010/main" val="2267732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ABD4186-9A88-7065-7DE7-EF07BAB864A5}"/>
              </a:ext>
            </a:extLst>
          </p:cNvPr>
          <p:cNvCxnSpPr/>
          <p:nvPr/>
        </p:nvCxnSpPr>
        <p:spPr>
          <a:xfrm>
            <a:off x="0" y="1206574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535406" y="1482745"/>
            <a:ext cx="11044988" cy="2824560"/>
          </a:xfrm>
        </p:spPr>
        <p:txBody>
          <a:bodyPr/>
          <a:lstStyle/>
          <a:p>
            <a:pPr lvl="0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1-Student Portal </a:t>
            </a:r>
          </a:p>
          <a:p>
            <a:pPr marL="457200" lvl="0" indent="-45720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 discovery &amp;</a:t>
            </a:r>
            <a:r>
              <a:rPr lang="en-US" sz="20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major-based recommendations</a:t>
            </a:r>
            <a:r>
              <a:rPr lang="en-US" sz="20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solidFill>
                <a:schemeClr val="tx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One-click event registration &amp; </a:t>
            </a:r>
            <a:r>
              <a:rPr lang="en-US" sz="2000" dirty="0" err="1" smtClean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hisory</a:t>
            </a:r>
            <a:r>
              <a:rPr lang="en-US" sz="20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solidFill>
                <a:schemeClr val="tx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1F1F1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2000" y="202461"/>
            <a:ext cx="10591800" cy="646332"/>
          </a:xfrm>
        </p:spPr>
        <p:txBody>
          <a:bodyPr/>
          <a:lstStyle/>
          <a:p>
            <a:r>
              <a:rPr lang="en-US" altLang="en-US" sz="36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 &amp; Interface Preview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540219"/>
              </p:ext>
            </p:extLst>
          </p:nvPr>
        </p:nvGraphicFramePr>
        <p:xfrm>
          <a:off x="385012" y="3064042"/>
          <a:ext cx="11044987" cy="2486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8675">
                  <a:extLst>
                    <a:ext uri="{9D8B030D-6E8A-4147-A177-3AD203B41FA5}">
                      <a16:colId xmlns:a16="http://schemas.microsoft.com/office/drawing/2014/main" val="3006394623"/>
                    </a:ext>
                  </a:extLst>
                </a:gridCol>
                <a:gridCol w="5706312">
                  <a:extLst>
                    <a:ext uri="{9D8B030D-6E8A-4147-A177-3AD203B41FA5}">
                      <a16:colId xmlns:a16="http://schemas.microsoft.com/office/drawing/2014/main" val="4257010976"/>
                    </a:ext>
                  </a:extLst>
                </a:gridCol>
              </a:tblGrid>
              <a:tr h="1243263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739968"/>
                  </a:ext>
                </a:extLst>
              </a:tr>
              <a:tr h="12432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588856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486526"/>
            <a:ext cx="10082463" cy="325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021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521368" y="357741"/>
            <a:ext cx="10667999" cy="1158237"/>
          </a:xfrm>
        </p:spPr>
        <p:txBody>
          <a:bodyPr/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2.Event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events &amp; select hall capacity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Track request status &amp; record attendance.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Table Placeholder 8"/>
          <p:cNvPicPr>
            <a:picLocks noGrp="1" noChangeAspect="1"/>
          </p:cNvPicPr>
          <p:nvPr>
            <p:ph type="tbl" sz="quarter" idx="12"/>
          </p:nvPr>
        </p:nvPicPr>
        <p:blipFill>
          <a:blip r:embed="rId2"/>
          <a:stretch>
            <a:fillRect/>
          </a:stretch>
        </p:blipFill>
        <p:spPr>
          <a:xfrm>
            <a:off x="705853" y="2085474"/>
            <a:ext cx="9881936" cy="334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242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569495" y="758794"/>
            <a:ext cx="10667999" cy="1158237"/>
          </a:xfrm>
        </p:spPr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University Admin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pending venue booking requests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Approve/reject with justification logs.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Table Placeholder 4"/>
          <p:cNvPicPr>
            <a:picLocks noGrp="1" noChangeAspect="1"/>
          </p:cNvPicPr>
          <p:nvPr>
            <p:ph type="tbl" sz="quarter" idx="12"/>
          </p:nvPr>
        </p:nvPicPr>
        <p:blipFill>
          <a:blip r:embed="rId2"/>
          <a:stretch>
            <a:fillRect/>
          </a:stretch>
        </p:blipFill>
        <p:spPr>
          <a:xfrm>
            <a:off x="721895" y="2592388"/>
            <a:ext cx="9577137" cy="283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785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able Placeholder 5"/>
          <p:cNvPicPr>
            <a:picLocks noGrp="1" noChangeAspect="1"/>
          </p:cNvPicPr>
          <p:nvPr>
            <p:ph type="tbl" sz="quarter" idx="12"/>
          </p:nvPr>
        </p:nvPicPr>
        <p:blipFill>
          <a:blip r:embed="rId2"/>
          <a:stretch>
            <a:fillRect/>
          </a:stretch>
        </p:blipFill>
        <p:spPr>
          <a:xfrm>
            <a:off x="633663" y="2326105"/>
            <a:ext cx="10435390" cy="3384883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body" sz="quarter" idx="11"/>
          </p:nvPr>
        </p:nvSpPr>
        <p:spPr>
          <a:xfrm>
            <a:off x="633663" y="678583"/>
            <a:ext cx="10667999" cy="1158237"/>
          </a:xfrm>
        </p:spPr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Companies &amp; External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event proposal details &amp; venue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temporary session storage.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935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A36B3A-558B-413E-877B-7275290AB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742" y="715961"/>
            <a:ext cx="6477000" cy="1189037"/>
          </a:xfrm>
        </p:spPr>
        <p:txBody>
          <a:bodyPr/>
          <a:lstStyle/>
          <a:p>
            <a:r>
              <a:rPr lang="en-US" dirty="0"/>
              <a:t>Project Team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75CE5-70A2-411D-881E-7B75B82931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99743" y="1905000"/>
            <a:ext cx="6477000" cy="3276600"/>
          </a:xfrm>
        </p:spPr>
        <p:txBody>
          <a:bodyPr/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C00000"/>
                </a:solidFill>
              </a:rPr>
              <a:t>Sara </a:t>
            </a:r>
            <a:r>
              <a:rPr lang="en-US" sz="2000" dirty="0" err="1" smtClean="0">
                <a:solidFill>
                  <a:srgbClr val="C00000"/>
                </a:solidFill>
              </a:rPr>
              <a:t>Hamadeh</a:t>
            </a:r>
            <a:endParaRPr lang="en-US" sz="2000" dirty="0" smtClean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C00000"/>
                </a:solidFill>
              </a:rPr>
              <a:t>Ayah Al-</a:t>
            </a:r>
            <a:r>
              <a:rPr lang="en-US" sz="2000" dirty="0" err="1" smtClean="0">
                <a:solidFill>
                  <a:srgbClr val="C00000"/>
                </a:solidFill>
              </a:rPr>
              <a:t>Nawafleh</a:t>
            </a:r>
            <a:endParaRPr lang="en-US" sz="2000" dirty="0" smtClean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 smtClean="0">
                <a:solidFill>
                  <a:srgbClr val="C00000"/>
                </a:solidFill>
              </a:rPr>
              <a:t>Sadeen</a:t>
            </a:r>
            <a:r>
              <a:rPr lang="en-US" sz="2000" dirty="0" smtClean="0">
                <a:solidFill>
                  <a:srgbClr val="C00000"/>
                </a:solidFill>
              </a:rPr>
              <a:t> Ramadan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C00000"/>
                </a:solidFill>
              </a:rPr>
              <a:t>Salma </a:t>
            </a:r>
            <a:r>
              <a:rPr lang="en-US" sz="2000" dirty="0" err="1" smtClean="0">
                <a:solidFill>
                  <a:srgbClr val="C00000"/>
                </a:solidFill>
              </a:rPr>
              <a:t>Awawdeh</a:t>
            </a:r>
            <a:endParaRPr lang="en-US" sz="2000" dirty="0" smtClean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527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9E38B3-4686-8247-9625-49018D29F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541" y="2829817"/>
            <a:ext cx="9141397" cy="738664"/>
          </a:xfrm>
        </p:spPr>
        <p:txBody>
          <a:bodyPr/>
          <a:lstStyle/>
          <a:p>
            <a:r>
              <a:rPr lang="en-US" sz="48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4244761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1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23042"/>
      </a:accent1>
      <a:accent2>
        <a:srgbClr val="3578AF"/>
      </a:accent2>
      <a:accent3>
        <a:srgbClr val="C4C4C4"/>
      </a:accent3>
      <a:accent4>
        <a:srgbClr val="A80B22"/>
      </a:accent4>
      <a:accent5>
        <a:srgbClr val="E2E2E2"/>
      </a:accent5>
      <a:accent6>
        <a:srgbClr val="2A6187"/>
      </a:accent6>
      <a:hlink>
        <a:srgbClr val="0563C1"/>
      </a:hlink>
      <a:folHlink>
        <a:srgbClr val="954F72"/>
      </a:folHlink>
    </a:clrScheme>
    <a:fontScheme name="Custom 8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ewish American Heritage Month_Win32_JC_SL_v3" id="{5A91364D-DD38-4994-BB9C-41D074FD197A}" vid="{8577DF34-D72C-48EB-902A-0A54C766E053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DF283A3-AA81-4663-8764-64F64C723FD1}">
  <ds:schemaRefs>
    <ds:schemaRef ds:uri="http://schemas.microsoft.com/office/2006/documentManagement/types"/>
    <ds:schemaRef ds:uri="http://schemas.microsoft.com/sharepoint/v3"/>
    <ds:schemaRef ds:uri="71af3243-3dd4-4a8d-8c0d-dd76da1f02a5"/>
    <ds:schemaRef ds:uri="http://purl.org/dc/terms/"/>
    <ds:schemaRef ds:uri="http://purl.org/dc/elements/1.1/"/>
    <ds:schemaRef ds:uri="230e9df3-be65-4c73-a93b-d1236ebd677e"/>
    <ds:schemaRef ds:uri="http://schemas.microsoft.com/office/infopath/2007/PartnerControls"/>
    <ds:schemaRef ds:uri="http://purl.org/dc/dcmitype/"/>
    <ds:schemaRef ds:uri="http://www.w3.org/XML/1998/namespace"/>
    <ds:schemaRef ds:uri="http://schemas.openxmlformats.org/package/2006/metadata/core-properties"/>
    <ds:schemaRef ds:uri="16c05727-aa75-4e4a-9b5f-8a80a1165891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15C1F8C-D27A-4CE7-9DF4-4AFDB2880F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EE2DFF-920A-42C9-AEE0-3A0BF6AF46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2f988bf-86f1-41af-91ab-2d7cd011db47}" enabled="0" method="" siteId="{72f988bf-86f1-41af-91ab-2d7cd011db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Jewish American Heritage Month presentation</Template>
  <TotalTime>2255</TotalTime>
  <Words>191</Words>
  <Application>Microsoft Office PowerPoint</Application>
  <PresentationFormat>Widescreen</PresentationFormat>
  <Paragraphs>39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Segoe UI</vt:lpstr>
      <vt:lpstr>Times New Roman</vt:lpstr>
      <vt:lpstr>Office Theme</vt:lpstr>
      <vt:lpstr>University Events and Workshops Electronic Portal </vt:lpstr>
      <vt:lpstr>General Concept:</vt:lpstr>
      <vt:lpstr>The Problem, The Impact &amp; Our Solution</vt:lpstr>
      <vt:lpstr> Functional Requirements &amp; Interface Preview</vt:lpstr>
      <vt:lpstr>PowerPoint Presentation</vt:lpstr>
      <vt:lpstr>PowerPoint Presentation</vt:lpstr>
      <vt:lpstr>PowerPoint Presentation</vt:lpstr>
      <vt:lpstr>Project Team</vt:lpstr>
      <vt:lpstr>Thank you 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Events &amp; Workshops Management Platform</dc:title>
  <dc:subject/>
  <dc:creator>Basant nitham</dc:creator>
  <cp:keywords/>
  <dc:description/>
  <cp:lastModifiedBy>USER</cp:lastModifiedBy>
  <cp:revision>48</cp:revision>
  <dcterms:created xsi:type="dcterms:W3CDTF">2026-01-01T18:23:40Z</dcterms:created>
  <dcterms:modified xsi:type="dcterms:W3CDTF">2026-10-09T19:56:16Z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